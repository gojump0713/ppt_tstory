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0" r:id="rId4"/>
    <p:sldId id="261" r:id="rId5"/>
    <p:sldId id="262" r:id="rId6"/>
    <p:sldId id="258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106" y="1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디지털 이용권</c:v>
                </c:pt>
              </c:strCache>
            </c:strRef>
          </c:tx>
          <c:spPr>
            <a:solidFill>
              <a:srgbClr val="3E7B5C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최소 3명</c:v>
                </c:pt>
                <c:pt idx="1">
                  <c:v>10명</c:v>
                </c:pt>
                <c:pt idx="2">
                  <c:v>20명</c:v>
                </c:pt>
                <c:pt idx="3">
                  <c:v>30명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29700</c:v>
                </c:pt>
                <c:pt idx="1">
                  <c:v>99000</c:v>
                </c:pt>
                <c:pt idx="2">
                  <c:v>198000</c:v>
                </c:pt>
                <c:pt idx="3">
                  <c:v>297000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CF4-42F9-92F6-262E59B8C86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책제작 포함 이용권</c:v>
                </c:pt>
              </c:strCache>
            </c:strRef>
          </c:tx>
          <c:spPr>
            <a:solidFill>
              <a:srgbClr val="E9785A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최소 3명</c:v>
                </c:pt>
                <c:pt idx="1">
                  <c:v>10명</c:v>
                </c:pt>
                <c:pt idx="2">
                  <c:v>20명</c:v>
                </c:pt>
                <c:pt idx="3">
                  <c:v>30명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78300</c:v>
                </c:pt>
                <c:pt idx="1">
                  <c:v>261000</c:v>
                </c:pt>
                <c:pt idx="2">
                  <c:v>522000</c:v>
                </c:pt>
                <c:pt idx="3">
                  <c:v>783000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CF4-42F9-92F6-262E59B8C8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56F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Malgun Gothic"/>
              <a:cs typeface="Malgun Gothic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28858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4D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 txBox="1"/>
          <p:nvPr/>
        </p:nvSpPr>
        <p:spPr>
          <a:xfrm>
            <a:off x="548640" y="118872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FD8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도서관 · 문화센터 · 교육기관용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45920"/>
            <a:ext cx="5943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Tstory.ai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AI동화책 운영 가이드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2461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학급방 만들기부터 이용권 가격, 실물 동화책 받기까지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457200" y="1554480"/>
            <a:ext cx="1828800" cy="2377440"/>
          </a:xfrm>
          <a:prstGeom prst="roundRect">
            <a:avLst>
              <a:gd name="adj" fmla="val 6000"/>
            </a:avLst>
          </a:prstGeom>
          <a:solidFill>
            <a:srgbClr val="E6F0EA"/>
          </a:solidFill>
          <a:ln w="12700">
            <a:solidFill>
              <a:srgbClr val="E6F0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097280" y="1783080"/>
            <a:ext cx="548640" cy="548640"/>
          </a:xfrm>
          <a:prstGeom prst="ellipse">
            <a:avLst/>
          </a:prstGeom>
          <a:solidFill>
            <a:srgbClr val="3E7B5C"/>
          </a:solidFill>
          <a:ln w="12700">
            <a:solidFill>
              <a:srgbClr val="3E7B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09728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5146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63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이야기 쓰기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9718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5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주제와 인물을 정하고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B75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아이가 직접 글을 써요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0" y="1554480"/>
            <a:ext cx="1828800" cy="2377440"/>
          </a:xfrm>
          <a:prstGeom prst="roundRect">
            <a:avLst>
              <a:gd name="adj" fmla="val 6000"/>
            </a:avLst>
          </a:prstGeom>
          <a:solidFill>
            <a:srgbClr val="E6F0EA"/>
          </a:solidFill>
          <a:ln w="12700">
            <a:solidFill>
              <a:srgbClr val="E6F0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3200400" y="1783080"/>
            <a:ext cx="548640" cy="548640"/>
          </a:xfrm>
          <a:prstGeom prst="ellipse">
            <a:avLst/>
          </a:prstGeom>
          <a:solidFill>
            <a:srgbClr val="3E7B5C"/>
          </a:solidFill>
          <a:ln w="12700">
            <a:solidFill>
              <a:srgbClr val="3E7B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320040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651760" y="25146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63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그림 그리기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651760" y="29718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5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토큰을 사용하면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B75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장면을 그려요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1554480"/>
            <a:ext cx="1828800" cy="2377440"/>
          </a:xfrm>
          <a:prstGeom prst="roundRect">
            <a:avLst>
              <a:gd name="adj" fmla="val 6000"/>
            </a:avLst>
          </a:prstGeom>
          <a:solidFill>
            <a:srgbClr val="E6F0EA"/>
          </a:solidFill>
          <a:ln w="12700">
            <a:solidFill>
              <a:srgbClr val="E6F0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5303520" y="1783080"/>
            <a:ext cx="548640" cy="548640"/>
          </a:xfrm>
          <a:prstGeom prst="ellipse">
            <a:avLst/>
          </a:prstGeom>
          <a:solidFill>
            <a:srgbClr val="3E7B5C"/>
          </a:solidFill>
          <a:ln w="12700">
            <a:solidFill>
              <a:srgbClr val="3E7B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530352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754880" y="25146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63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다운로드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754880" y="29718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5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 동화책과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B75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오디오북을 받아요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66560" y="1554480"/>
            <a:ext cx="1828800" cy="2377440"/>
          </a:xfrm>
          <a:prstGeom prst="roundRect">
            <a:avLst>
              <a:gd name="adj" fmla="val 6000"/>
            </a:avLst>
          </a:prstGeom>
          <a:solidFill>
            <a:srgbClr val="FCE9E3"/>
          </a:solidFill>
          <a:ln w="12700">
            <a:solidFill>
              <a:srgbClr val="FCE9E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7406640" y="1783080"/>
            <a:ext cx="548640" cy="548640"/>
          </a:xfrm>
          <a:prstGeom prst="ellipse">
            <a:avLst/>
          </a:prstGeom>
          <a:solidFill>
            <a:srgbClr val="E9785A"/>
          </a:solidFill>
          <a:ln w="12700">
            <a:solidFill>
              <a:srgbClr val="E978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740664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0" y="25146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63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실물 동화책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0" y="29718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5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인쇄·제본된 책을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B75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기관으로 배송해요</a:t>
            </a:r>
            <a:endParaRPr lang="en-US" sz="1200" dirty="0"/>
          </a:p>
        </p:txBody>
      </p:sp>
      <p:sp>
        <p:nvSpPr>
          <p:cNvPr id="26" name="왼쪽 중괄호 25">
            <a:extLst>
              <a:ext uri="{FF2B5EF4-FFF2-40B4-BE49-F238E27FC236}">
                <a16:creationId xmlns:a16="http://schemas.microsoft.com/office/drawing/2014/main" id="{A33920B0-8088-01CE-30D8-8BD1254ADB4E}"/>
              </a:ext>
            </a:extLst>
          </p:cNvPr>
          <p:cNvSpPr/>
          <p:nvPr/>
        </p:nvSpPr>
        <p:spPr>
          <a:xfrm rot="5400000">
            <a:off x="3171566" y="-1949076"/>
            <a:ext cx="633845" cy="6007506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F0805CC-B696-6219-7699-21FE4FFC24E9}"/>
              </a:ext>
            </a:extLst>
          </p:cNvPr>
          <p:cNvSpPr txBox="1"/>
          <p:nvPr/>
        </p:nvSpPr>
        <p:spPr>
          <a:xfrm>
            <a:off x="2218749" y="346455"/>
            <a:ext cx="26180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디지털이용권 </a:t>
            </a:r>
            <a:r>
              <a:rPr lang="en-US" altLang="ko-KR" sz="1200" dirty="0"/>
              <a:t>(16</a:t>
            </a:r>
            <a:r>
              <a:rPr lang="ko-KR" altLang="en-US" sz="1200" dirty="0"/>
              <a:t>장 생성</a:t>
            </a:r>
            <a:r>
              <a:rPr lang="en-US" altLang="ko-KR" sz="1200" dirty="0"/>
              <a:t>, </a:t>
            </a:r>
            <a:r>
              <a:rPr lang="ko-KR" altLang="en-US" sz="1200" dirty="0"/>
              <a:t>수정 </a:t>
            </a:r>
            <a:r>
              <a:rPr lang="en-US" altLang="ko-KR" sz="1200" dirty="0"/>
              <a:t>10</a:t>
            </a:r>
            <a:r>
              <a:rPr lang="ko-KR" altLang="en-US" sz="1200" dirty="0"/>
              <a:t>회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28" name="왼쪽 중괄호 27">
            <a:extLst>
              <a:ext uri="{FF2B5EF4-FFF2-40B4-BE49-F238E27FC236}">
                <a16:creationId xmlns:a16="http://schemas.microsoft.com/office/drawing/2014/main" id="{0C837553-1931-BFC9-1CD3-1C822EB73D18}"/>
              </a:ext>
            </a:extLst>
          </p:cNvPr>
          <p:cNvSpPr/>
          <p:nvPr/>
        </p:nvSpPr>
        <p:spPr>
          <a:xfrm rot="5400000" flipH="1">
            <a:off x="4172500" y="289874"/>
            <a:ext cx="643654" cy="8019185"/>
          </a:xfrm>
          <a:prstGeom prst="leftBrace">
            <a:avLst>
              <a:gd name="adj1" fmla="val 8333"/>
              <a:gd name="adj2" fmla="val 49827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850030E-CC21-3586-D815-3260A4AA54FC}"/>
              </a:ext>
            </a:extLst>
          </p:cNvPr>
          <p:cNvSpPr txBox="1"/>
          <p:nvPr/>
        </p:nvSpPr>
        <p:spPr>
          <a:xfrm>
            <a:off x="3264591" y="4730680"/>
            <a:ext cx="26148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디지털</a:t>
            </a:r>
            <a:r>
              <a:rPr lang="en-US" altLang="ko-KR" sz="1200" dirty="0"/>
              <a:t>+</a:t>
            </a:r>
            <a:r>
              <a:rPr lang="ko-KR" altLang="en-US" sz="1200" dirty="0" err="1"/>
              <a:t>책제작</a:t>
            </a:r>
            <a:r>
              <a:rPr lang="ko-KR" altLang="en-US" sz="1200" dirty="0"/>
              <a:t> 이용권 </a:t>
            </a:r>
            <a:r>
              <a:rPr lang="en-US" altLang="ko-KR" sz="1200" dirty="0"/>
              <a:t>(</a:t>
            </a:r>
            <a:r>
              <a:rPr lang="ko-KR" altLang="en-US" sz="1200" dirty="0" err="1"/>
              <a:t>포토북</a:t>
            </a:r>
            <a:r>
              <a:rPr lang="ko-KR" altLang="en-US" sz="1200" dirty="0"/>
              <a:t> 제작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63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이용권은 두 가지예요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5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참여자 1인당 가격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3063240"/>
          </a:xfrm>
          <a:prstGeom prst="roundRect">
            <a:avLst>
              <a:gd name="adj" fmla="val 3582"/>
            </a:avLst>
          </a:prstGeom>
          <a:solidFill>
            <a:srgbClr val="E6F0EA"/>
          </a:solidFill>
          <a:ln w="12700">
            <a:solidFill>
              <a:srgbClr val="E6F0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31520" y="15544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E7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디지털 이용권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2024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44D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4,000원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83464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63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동화책 1권 제작 (</a:t>
            </a:r>
            <a:r>
              <a:rPr lang="en-US" sz="1400" dirty="0" err="1">
                <a:solidFill>
                  <a:srgbClr val="263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</a:t>
            </a:r>
            <a:r>
              <a:rPr lang="en-US" sz="1400" dirty="0">
                <a:solidFill>
                  <a:srgbClr val="263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260개)</a:t>
            </a:r>
            <a:br>
              <a:rPr lang="en-US" sz="1400" dirty="0">
                <a:solidFill>
                  <a:srgbClr val="263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400" dirty="0">
                <a:solidFill>
                  <a:srgbClr val="263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ko-KR" altLang="en-US" sz="1400" dirty="0">
                <a:solidFill>
                  <a:srgbClr val="263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 </a:t>
            </a:r>
            <a:r>
              <a:rPr lang="en-US" altLang="ko-KR" sz="1400" dirty="0">
                <a:solidFill>
                  <a:srgbClr val="263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r>
              <a:rPr lang="ko-KR" altLang="en-US" sz="1400" dirty="0">
                <a:solidFill>
                  <a:srgbClr val="263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</a:t>
            </a:r>
            <a:r>
              <a:rPr lang="en-US" altLang="ko-KR" sz="1400" dirty="0">
                <a:solidFill>
                  <a:srgbClr val="263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00" dirty="0">
                <a:solidFill>
                  <a:srgbClr val="263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</a:t>
            </a:r>
            <a:r>
              <a:rPr lang="en-US" altLang="ko-KR" sz="1400" dirty="0">
                <a:solidFill>
                  <a:srgbClr val="263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r>
              <a:rPr lang="ko-KR" altLang="en-US" sz="1400" dirty="0">
                <a:solidFill>
                  <a:srgbClr val="263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63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 동화책 다운로드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63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오디오북 다운로드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3931920" cy="3063240"/>
          </a:xfrm>
          <a:prstGeom prst="roundRect">
            <a:avLst>
              <a:gd name="adj" fmla="val 3582"/>
            </a:avLst>
          </a:prstGeom>
          <a:solidFill>
            <a:srgbClr val="FCE9E3"/>
          </a:solidFill>
          <a:ln w="12700">
            <a:solidFill>
              <a:srgbClr val="FCE9E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5029200" y="15544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978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책제작 포함 이용권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029200" y="192024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44D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20,000원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0" y="283464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63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디지털 이용권 전체 구성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63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실물 동화책 1권 (세로형 포토북)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63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인쇄·제본 후 기관으로 배송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63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실물 동화책 형태를 고를 수 있어요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5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책제작 포함 이용권 1인당 가격 (디지털 구성 포함)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1075701"/>
              </p:ext>
            </p:extLst>
          </p:nvPr>
        </p:nvGraphicFramePr>
        <p:xfrm>
          <a:off x="457200" y="1417320"/>
          <a:ext cx="8229600" cy="265176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책 형태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D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특징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D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1인당 가격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D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630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인스타북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630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가볍고 부담 없는 정사각 소형 책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 defTabSz="914400" rtl="0" eaLnBrk="1" latinLnBrk="0" hangingPunct="1">
                        <a:buNone/>
                      </a:pPr>
                      <a:r>
                        <a:rPr lang="en-US" sz="1400" kern="1200" dirty="0">
                          <a:solidFill>
                            <a:srgbClr val="2630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18,000원</a:t>
                      </a:r>
                      <a:endParaRPr lang="en-US" sz="1400" kern="1200" dirty="0">
                        <a:solidFill>
                          <a:srgbClr val="26302B"/>
                        </a:solidFill>
                        <a:latin typeface="Malgun Gothic" pitchFamily="34" charset="0"/>
                        <a:ea typeface="Malgun Gothic" pitchFamily="34" charset="-122"/>
                        <a:cs typeface="Malgun Gothic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E978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세로형 포토북 (기본)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630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동화책다운 세로 판형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E978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20,000원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630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포토진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630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잡지처럼 얇은 중철 제본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2630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23,000원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630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정방형 포토북 (프리미엄)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630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넓은 그림 면, 소장용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2630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30,000원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E7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기관 프로그램 성격에 맞춰 학급방 단위로 한 가지 형태를 정하는 것을 권해요.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63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학급방 규모별 예산 예시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5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세로형 포토북 기준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280160"/>
          <a:ext cx="45720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212080" y="1325880"/>
            <a:ext cx="3474720" cy="685800"/>
          </a:xfrm>
          <a:prstGeom prst="roundRect">
            <a:avLst>
              <a:gd name="adj" fmla="val 16000"/>
            </a:avLst>
          </a:prstGeom>
          <a:solidFill>
            <a:srgbClr val="E6F0EA"/>
          </a:solidFill>
          <a:ln w="12700">
            <a:solidFill>
              <a:srgbClr val="E6F0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5349240" y="132588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3명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263640" y="1371600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 err="1">
                <a:solidFill>
                  <a:srgbClr val="6B75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디지털</a:t>
            </a:r>
            <a:r>
              <a:rPr lang="en-US" sz="1000" dirty="0">
                <a:solidFill>
                  <a:srgbClr val="6B75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00" b="1" dirty="0">
                <a:solidFill>
                  <a:srgbClr val="3E7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12,000원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263640" y="1673352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5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책제작 </a:t>
            </a:r>
            <a:r>
              <a:rPr lang="en-US" sz="1000" dirty="0" err="1">
                <a:solidFill>
                  <a:srgbClr val="6B75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포함</a:t>
            </a:r>
            <a:r>
              <a:rPr lang="en-US" sz="1000" dirty="0">
                <a:solidFill>
                  <a:srgbClr val="6B75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00" b="1" dirty="0">
                <a:solidFill>
                  <a:srgbClr val="E978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60,000원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212080" y="2130552"/>
            <a:ext cx="347472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5349240" y="2130552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10명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263640" y="2176272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 err="1">
                <a:solidFill>
                  <a:srgbClr val="6B75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디지털</a:t>
            </a:r>
            <a:r>
              <a:rPr lang="en-US" sz="1000" dirty="0">
                <a:solidFill>
                  <a:srgbClr val="6B75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00" b="1" dirty="0">
                <a:solidFill>
                  <a:srgbClr val="3E7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40,000원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263640" y="2478024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5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책제작 </a:t>
            </a:r>
            <a:r>
              <a:rPr lang="en-US" sz="1000" dirty="0" err="1">
                <a:solidFill>
                  <a:srgbClr val="6B75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포함</a:t>
            </a:r>
            <a:r>
              <a:rPr lang="en-US" sz="1000" dirty="0">
                <a:solidFill>
                  <a:srgbClr val="6B75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00" b="1" dirty="0">
                <a:solidFill>
                  <a:srgbClr val="E978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200,000원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212080" y="2935224"/>
            <a:ext cx="3474720" cy="685800"/>
          </a:xfrm>
          <a:prstGeom prst="roundRect">
            <a:avLst>
              <a:gd name="adj" fmla="val 16000"/>
            </a:avLst>
          </a:prstGeom>
          <a:solidFill>
            <a:srgbClr val="E6F0EA"/>
          </a:solidFill>
          <a:ln w="12700">
            <a:solidFill>
              <a:srgbClr val="E6F0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5349240" y="2935224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20명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263640" y="2980944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 err="1">
                <a:solidFill>
                  <a:srgbClr val="6B75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디지털</a:t>
            </a:r>
            <a:r>
              <a:rPr lang="en-US" sz="1000" dirty="0">
                <a:solidFill>
                  <a:srgbClr val="6B75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00" b="1" dirty="0">
                <a:solidFill>
                  <a:srgbClr val="3E7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80,000원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263640" y="3282696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5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책제작 </a:t>
            </a:r>
            <a:r>
              <a:rPr lang="en-US" sz="1000" dirty="0" err="1">
                <a:solidFill>
                  <a:srgbClr val="6B75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포함</a:t>
            </a:r>
            <a:r>
              <a:rPr lang="en-US" sz="1000" dirty="0">
                <a:solidFill>
                  <a:srgbClr val="6B75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00" b="1" dirty="0">
                <a:solidFill>
                  <a:srgbClr val="E978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400,000원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212080" y="3739896"/>
            <a:ext cx="347472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 txBox="1"/>
          <p:nvPr/>
        </p:nvSpPr>
        <p:spPr>
          <a:xfrm>
            <a:off x="5349240" y="3739896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30명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263640" y="3785616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 err="1">
                <a:solidFill>
                  <a:srgbClr val="6B75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디지털</a:t>
            </a:r>
            <a:r>
              <a:rPr lang="en-US" sz="1000" dirty="0">
                <a:solidFill>
                  <a:srgbClr val="6B75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00" b="1" dirty="0">
                <a:solidFill>
                  <a:srgbClr val="3E7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120,000원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6263640" y="4087368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5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책제작 </a:t>
            </a:r>
            <a:r>
              <a:rPr lang="en-US" sz="1000" dirty="0" err="1">
                <a:solidFill>
                  <a:srgbClr val="6B75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포함</a:t>
            </a:r>
            <a:r>
              <a:rPr lang="en-US" sz="1000" dirty="0">
                <a:solidFill>
                  <a:srgbClr val="6B75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00" b="1" dirty="0">
                <a:solidFill>
                  <a:srgbClr val="E978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600,000원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63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학급방으로 한 번에 운영해요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5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담당자가 방을 만들고, 참여자는 링크로 들어와요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457200" cy="457200"/>
          </a:xfrm>
          <a:prstGeom prst="ellipse">
            <a:avLst/>
          </a:prstGeom>
          <a:solidFill>
            <a:srgbClr val="3E7B5C"/>
          </a:solidFill>
          <a:ln w="12700">
            <a:solidFill>
              <a:srgbClr val="3E7B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371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3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가입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108960" y="13716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5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기관 담당자 계정을 만들어요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029968"/>
            <a:ext cx="457200" cy="457200"/>
          </a:xfrm>
          <a:prstGeom prst="ellipse">
            <a:avLst/>
          </a:prstGeom>
          <a:solidFill>
            <a:srgbClr val="3E7B5C"/>
          </a:solidFill>
          <a:ln w="12700">
            <a:solidFill>
              <a:srgbClr val="3E7B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548640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0299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3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학급방 만들기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108960" y="202996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5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프로그램·기수별로 방을 만들어요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688336"/>
            <a:ext cx="457200" cy="457200"/>
          </a:xfrm>
          <a:prstGeom prst="ellipse">
            <a:avLst/>
          </a:prstGeom>
          <a:solidFill>
            <a:srgbClr val="E9785A"/>
          </a:solidFill>
          <a:ln w="12700">
            <a:solidFill>
              <a:srgbClr val="E978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548640" y="2688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268833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3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참여자 초대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108960" y="268833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5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 링크를 공유해요 (최소 3명)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346704"/>
            <a:ext cx="457200" cy="457200"/>
          </a:xfrm>
          <a:prstGeom prst="ellipse">
            <a:avLst/>
          </a:prstGeom>
          <a:solidFill>
            <a:srgbClr val="3E7B5C"/>
          </a:solidFill>
          <a:ln w="12700">
            <a:solidFill>
              <a:srgbClr val="3E7B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548640" y="3346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34670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3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동화책 만들기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3108960" y="334670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5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참여자가 각자 한 권씩 만들어요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005072"/>
            <a:ext cx="457200" cy="457200"/>
          </a:xfrm>
          <a:prstGeom prst="ellipse">
            <a:avLst/>
          </a:prstGeom>
          <a:solidFill>
            <a:srgbClr val="3E7B5C"/>
          </a:solidFill>
          <a:ln w="12700">
            <a:solidFill>
              <a:srgbClr val="3E7B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548640" y="4005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40050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3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검토·완성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1089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5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담당자가 작품을 확인하고 신청해요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306</Words>
  <Application>Microsoft Office PowerPoint</Application>
  <PresentationFormat>화면 슬라이드 쇼(16:9)</PresentationFormat>
  <Paragraphs>89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Tstory.ai 기관용 AI동화책 운영 가이드</dc:title>
  <dc:subject>PptxGenJS Presentation</dc:subject>
  <dc:creator>PptxGenJS</dc:creator>
  <cp:lastModifiedBy>이 춘성</cp:lastModifiedBy>
  <cp:revision>7</cp:revision>
  <dcterms:created xsi:type="dcterms:W3CDTF">2026-09-16T02:38:39Z</dcterms:created>
  <dcterms:modified xsi:type="dcterms:W3CDTF">2026-09-16T10:13:31Z</dcterms:modified>
</cp:coreProperties>
</file>